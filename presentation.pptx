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38BDF8"/>
                </a:solidFill>
              </a:defRPr>
            </a:pPr>
            <a:r>
              <a:t>AlphaCondor</a:t>
            </a:r>
          </a:p>
          <a:p>
            <a:pPr>
              <a:spcBef>
                <a:spcPts val="1200"/>
              </a:spcBef>
              <a:defRPr sz="2400" b="1">
                <a:solidFill>
                  <a:srgbClr val="F8FAFC"/>
                </a:solidFill>
              </a:defRPr>
            </a:pPr>
            <a:r>
              <a:t>Autonomous AI Options Trading System on Alpaca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</a:defRPr>
            </a:pPr>
            <a:r>
              <a:t>Combining Google Gemini Reasoning with Deterministic Risk Guardrails</a:t>
            </a:r>
            <a:br/>
            <a:r>
              <a:t>Dual-Engine: Institutional Wheel Strategy + High-Efficiency 0DTE Iron Condors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10362895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🏆 Alpaca AI Trading Agents Hackathon (lablab.ai)  |  Track 04: Income &amp; Portfolio Overlay Agents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Alpaca Paper Account ID: PA3QPTGUKZ8P ($100,000 Starting Balance)  •  GitHub: github.com/prolegendluv/alphacondor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Options Dilemma &amp; The AlphaCondor Solution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Bridging Generative AI and Quantitative Risk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❌ The Retail Options Problem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Massive Capital Lockup: Selling Cash-Secured Puts on blue chips requires $30K–$60K in collateral per contract for small nominal yields.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Unconstrained LLM Risk: Directly connecting an LLM to order submission invites hallucinations, illegal strikes, and blown accounts.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Rapid Intraday Gamma: 0DTE options decay exponentially but carry tail risk if not actively monitored and closed before the bell.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Fragmented Tooling: Retail traders lack institutional multi-leg execution and continuous audit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✅ The AlphaCondor Architecture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Strict AI/Risk Decoupling: Google Gemini acts solely as an analyst and advisor. A deterministic Python firewall validates every trade.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Dual-Strategy Engine: Combines conservative institutional Wheel income with defined-risk, high-margin 0DTE Iron Condors ($500 margin).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Deterministic Guardrails: 7 hard mathematical gates enforce cash collateral, concentration limits, and covered share backing.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Institutional Observability: Real-time WebSocket execution, full SQLite audit journal, Rich CLI, and a live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Architecture: End-to-End Pipeline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From Market Perception to Autonomous Broker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1. Perception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Alpaca Trading API</a:t>
            </a:r>
            <a:br/>
            <a:r>
              <a:t>• Stock Bars &amp; Prices</a:t>
            </a:r>
            <a:br/>
            <a:r>
              <a:t>• Option Chains with Greeks</a:t>
            </a:r>
            <a:br/>
            <a:r>
              <a:t>• Alpaca NewsClient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Analysis Engine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Quantitative Layer</a:t>
            </a:r>
            <a:br/>
            <a:r>
              <a:t>• Wilder's RSI(14), EMAs</a:t>
            </a:r>
            <a:br/>
            <a:r>
              <a:t>• Black-Scholes IV Rank</a:t>
            </a:r>
            <a:br/>
            <a:r>
              <a:t>• Liquidity &amp; Spread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3. AI Cognition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Google Gemini 3.5</a:t>
            </a:r>
            <a:br/>
            <a:r>
              <a:t>• Context Synthesis</a:t>
            </a:r>
            <a:br/>
            <a:r>
              <a:t>• Strict Pydantic JSON</a:t>
            </a:r>
            <a:br/>
            <a:r>
              <a:t>• Fallback Rule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4. Risk Firewall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7 Deterministic Gates</a:t>
            </a:r>
            <a:br/>
            <a:r>
              <a:t>• Collateral Verification</a:t>
            </a:r>
            <a:br/>
            <a:r>
              <a:t>• Share Backing Check</a:t>
            </a:r>
            <a:br/>
            <a:r>
              <a:t>• Concentration Caps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5. Execution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Alpaca Broker</a:t>
            </a:r>
            <a:br/>
            <a:r>
              <a:t>• Limit Orders (Intent)</a:t>
            </a:r>
            <a:br/>
            <a:r>
              <a:t>• Multi-Leg Condors</a:t>
            </a:r>
            <a:br/>
            <a:r>
              <a:t>• TradingStream WebSockets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Dual-Strategy Options Engine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Balancing Institutional Stability with Maximum Capital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🎡 Strategy 1: The Core Wheel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Asset Focus: Blue-chips &amp; broad indices (AAPL, MSFT, NVDA, SOFI, SPY).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Phase 1 — Cash-Secured Put (CSP): Sells OTM puts (Δ ≈ 0.25, 30–45 DTE) on fundamentally sound assets.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Phase 2 — Assignment: If assigned, purchases 100 shares at strike, resetting cost basis (Strike - Premium).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Phase 3 — Covered Call (CC): Sells OTM calls against shares to harvest premium while awaiting exit.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Target Return: Conservative 20%–35% annualized options income.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🦅 Strategy 2: 0DTE Iron Condors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Asset Focus: High-liquidity index ETF (SPY).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Defined-Risk Structure: 4-leg credit spread (Buy Put + Sell Put + Sell Call + Buy Call).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10x–20x Margin Efficiency: Required margin is capped at spread width ($500/spread) vs $30K+ for CSPs.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Intraday Theta Harvest: Exploits non-linear same-day expiration decay.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Backtest Demonstration: Up to 21x higher 4-day P&amp;L potential ($2,400–$7,500 vs $350) with identical $100K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 Cognition &amp; Deterministic Risk Gates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Structured LLM Reasoning Governed by Pure Mathematical Guardrails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5760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Risk Gate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Target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Mathematical Enforcement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 Confidence Floor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Certainty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Hard rejection if Gemini confidence score &lt; 70%.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 Concurrency Cap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Portfolio Exposure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Restricts maximum concurrent open positions to 20.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 Cash Collateral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Cash-Secured Check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Requires 100% cash backing for puts: Strike × 100 × Qty ≤ Available Cash.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 Concentration Cap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Single-Ticker Limit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Capital allocation per underlying cannot exceed maximum threshold.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 Share Backing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Covered Call Rule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Requires ≥ 100 shares owned. Naked call execution is mathematically impossible.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 Phase Consistency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State Machine Rule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Enforces valid wheel transitions (cannot sell call without shares; cannot duplicate puts).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 Liquidity / Spread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Execution Quality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Rejects contracts with bid-ask spread &gt; 15% or prices ≤ $0.05.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Intelligent Position Lifecycle Management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Automated Profit Takes, Gamma Rolls, and Stop Losses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🎯 50% Profit Target</a:t>
            </a:r>
          </a:p>
          <a:p>
            <a:pPr>
              <a:spcBef>
                <a:spcPts val="200"/>
              </a:spcBef>
              <a:defRPr sz="1200">
                <a:solidFill>
                  <a:srgbClr val="38BDF8"/>
                </a:solidFill>
              </a:defRPr>
            </a:pPr>
            <a:r>
              <a:t>Locking in Gains Early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Closes open option positions once 50% of maximum potential profit is captured, dramatically accelerating capital velocity and reducing exposure duration.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⏳ 21 DTE Roll Threshold</a:t>
            </a:r>
          </a:p>
          <a:p>
            <a:pPr>
              <a:spcBef>
                <a:spcPts val="200"/>
              </a:spcBef>
              <a:defRPr sz="1200">
                <a:solidFill>
                  <a:srgbClr val="38BDF8"/>
                </a:solidFill>
              </a:defRPr>
            </a:pPr>
            <a:r>
              <a:t>Eliminating Gamma Risk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Options experience severe non-linear delta and gamma fluctuations during the final 3 weeks. Positions reaching 21 DTE are automatically rolled out or exited.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🛡️ 200% Stop Loss</a:t>
            </a:r>
          </a:p>
          <a:p>
            <a:pPr>
              <a:spcBef>
                <a:spcPts val="200"/>
              </a:spcBef>
              <a:defRPr sz="1200">
                <a:solidFill>
                  <a:srgbClr val="38BDF8"/>
                </a:solidFill>
              </a:defRPr>
            </a:pPr>
            <a:r>
              <a:t>Capping Tail Losses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If market volatility pushes a position into a loss exceeding 200% of received premium, the position is immediately liquidated to protect capital.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⏰ 3:45 PM EOD Exit</a:t>
            </a:r>
          </a:p>
          <a:p>
            <a:pPr>
              <a:spcBef>
                <a:spcPts val="200"/>
              </a:spcBef>
              <a:defRPr sz="1200">
                <a:solidFill>
                  <a:srgbClr val="38BDF8"/>
                </a:solidFill>
              </a:defRPr>
            </a:pPr>
            <a:r>
              <a:t>Zero Overnight Risk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For 0DTE Iron Condors on SPY, any open spreads are automatically closed 15 minutes before the 4:00 PM ET close to avoid surprise assignment.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Alpaca Developer Stack &amp; MCP Server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Leveraging the Full Breadth of Alpaca's Programmable Brokerage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Alpaca Trading API (alpaca-py)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Order placement using explicit PositionIntent (SELL_TO_OPEN, BUY_TO_CLOSE). Account state and buying power synchronization.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Alpaca Market Data API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Real-time quotes, historical OHLCV daily bars, and option chains with Black-Scholes Greeks.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Alpaca TradingStream (WebSocket)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Event-driven asynchronous fill monitor tracking trade updates, cancellations, and order fills.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Alpaca Model Context Protocol (MCP)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Configured via mcp_config.json running uvx alpaca-mcp-server, enabling Claude &amp; Cursor to manage trades conversationally.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Streamlit Web Dashboard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Real-time portfolio KPI monitoring, open position tables, trade logs, and historical equity curve.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Rich CLI &amp; SQLite Audit Trail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Terminal command interface with comprehensive SQLite trade journal recording all contexts, signals, and risk gate verdicts.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Verification, Testing &amp; P&amp;L Analysis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Rigorously Tested Across Unit Tests, Simulations, and Paper Trading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4D399"/>
                </a:solidFill>
              </a:defRPr>
            </a:pPr>
            <a:r>
              <a:t>19 / 19</a:t>
            </a:r>
          </a:p>
          <a:p>
            <a:pPr algn="ctr">
              <a:defRPr sz="1400" b="1">
                <a:solidFill>
                  <a:srgbClr val="F8FAFC"/>
                </a:solidFill>
              </a:defRPr>
            </a:pPr>
            <a:r>
              <a:t>Unit Tests Passing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Complete pytest coverage of IV Rank, strike selection, Wheel states, and 0DTE Condors.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$100,000</a:t>
            </a:r>
          </a:p>
          <a:p>
            <a:pPr algn="ctr">
              <a:defRPr sz="1400" b="1">
                <a:solidFill>
                  <a:srgbClr val="F8FAFC"/>
                </a:solidFill>
              </a:defRPr>
            </a:pPr>
            <a:r>
              <a:t>Fresh Account Balance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Pristine Alpaca paper account PA3QPTGUKZ8P ready for competition judging.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ACC15"/>
                </a:solidFill>
              </a:defRPr>
            </a:pPr>
            <a:r>
              <a:t>7x–21x</a:t>
            </a:r>
          </a:p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Margin Efficiency Multiplier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Demonstrated P&amp;L expansion on SPY credit spreads vs cash-locked single 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📊 Key Takeaways for Hackathon Judges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Track 04 Fit: Perfectly implements institutional options income (Wheel + Defined-Risk Credit Spreads).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Technical Depth: Avoids brittle dependencies, utilizing standard scipy Black-Scholes math and pure pandas indicators.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Production Safety: The strict decoupling ensures an LLM can never over-leverage or execute illegal naked calls.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Complete Deliverables: Public GitHub repo, Streamlit web app, technical write-up, and dedicated $100K Alpaca paper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